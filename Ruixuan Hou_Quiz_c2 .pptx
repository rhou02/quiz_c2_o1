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3" r:id="rId3"/>
    <p:sldId id="265" r:id="rId4"/>
    <p:sldId id="266" r:id="rId5"/>
    <p:sldId id="258" r:id="rId6"/>
    <p:sldId id="259" r:id="rId7"/>
    <p:sldId id="260" r:id="rId8"/>
    <p:sldId id="261" r:id="rId9"/>
    <p:sldId id="262" r:id="rId10"/>
    <p:sldId id="257" r:id="rId11"/>
    <p:sldId id="264" r:id="rId12"/>
    <p:sldId id="267"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91" y="1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1700" b="1">
                <a:solidFill>
                  <a:schemeClr val="dk1"/>
                </a:solidFill>
              </a:rPr>
              <a:t>LexGuard: 3-Minute Presentation Script</a:t>
            </a:r>
            <a:endParaRPr sz="1700" b="1">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1. Motivation &amp; System Pipeline (45s) — Manan</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Visual Focus:</a:t>
            </a:r>
            <a:r>
              <a:rPr lang="en">
                <a:solidFill>
                  <a:schemeClr val="dk1"/>
                </a:solidFill>
              </a:rPr>
              <a:t> "Motivation" (top-left) and "System Pipeline" (top-center) sections.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Script:</a:t>
            </a:r>
            <a:r>
              <a:rPr lang="en">
                <a:solidFill>
                  <a:schemeClr val="dk1"/>
                </a:solidFill>
              </a:rPr>
              <a:t> "Good morning. We are Team LexGuard. Commercial contracts often hide high-risk clauses, such as </a:t>
            </a:r>
            <a:r>
              <a:rPr lang="en" b="1">
                <a:solidFill>
                  <a:schemeClr val="dk1"/>
                </a:solidFill>
              </a:rPr>
              <a:t>uncapped liability</a:t>
            </a:r>
            <a:r>
              <a:rPr lang="en">
                <a:solidFill>
                  <a:schemeClr val="dk1"/>
                </a:solidFill>
              </a:rPr>
              <a:t> or </a:t>
            </a:r>
            <a:r>
              <a:rPr lang="en" b="1">
                <a:solidFill>
                  <a:schemeClr val="dk1"/>
                </a:solidFill>
              </a:rPr>
              <a:t>non-compete terms</a:t>
            </a:r>
            <a:r>
              <a:rPr lang="en">
                <a:solidFill>
                  <a:schemeClr val="dk1"/>
                </a:solidFill>
              </a:rPr>
              <a:t>, that can lead to multi-million dollar disputes. Manual review is slow, often taking over </a:t>
            </a:r>
            <a:r>
              <a:rPr lang="en" b="1">
                <a:solidFill>
                  <a:schemeClr val="dk1"/>
                </a:solidFill>
              </a:rPr>
              <a:t>90 minutes per contract</a:t>
            </a:r>
            <a:r>
              <a:rPr lang="en">
                <a:solidFill>
                  <a:schemeClr val="dk1"/>
                </a:solidFill>
              </a:rPr>
              <a:t>. To solve this, we built LexGuard. Our system pipeline automates the entire process: starting with PDF text extraction via PyMuPDF, followed by feature extraction, and finally automated risk detection and classification. By using AI to triage these risks, legal teams can focus on strategy rather than searching for text."</a:t>
            </a:r>
            <a:br>
              <a:rPr lang="en">
                <a:solidFill>
                  <a:schemeClr val="dk1"/>
                </a:solidFill>
              </a:rPr>
            </a:b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2. Dataset &amp; Methodology (45s) — Catherine</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Visual Focus:</a:t>
            </a:r>
            <a:r>
              <a:rPr lang="en">
                <a:solidFill>
                  <a:schemeClr val="dk1"/>
                </a:solidFill>
              </a:rPr>
              <a:t> "Dataset Description" and "Methodology" sections.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Script:</a:t>
            </a:r>
            <a:r>
              <a:rPr lang="en">
                <a:solidFill>
                  <a:schemeClr val="dk1"/>
                </a:solidFill>
              </a:rPr>
              <a:t> "Our project is grounded in the </a:t>
            </a:r>
            <a:r>
              <a:rPr lang="en" b="1">
                <a:solidFill>
                  <a:schemeClr val="dk1"/>
                </a:solidFill>
              </a:rPr>
              <a:t>CUAD v1 dataset</a:t>
            </a:r>
            <a:r>
              <a:rPr lang="en">
                <a:solidFill>
                  <a:schemeClr val="dk1"/>
                </a:solidFill>
              </a:rPr>
              <a:t>, featuring over </a:t>
            </a:r>
            <a:r>
              <a:rPr lang="en" b="1">
                <a:solidFill>
                  <a:schemeClr val="dk1"/>
                </a:solidFill>
              </a:rPr>
              <a:t>13,000 expert-labeled annotations</a:t>
            </a:r>
            <a:r>
              <a:rPr lang="en">
                <a:solidFill>
                  <a:schemeClr val="dk1"/>
                </a:solidFill>
              </a:rPr>
              <a:t>across 510 legal contracts. Initially, we fine-tuned a </a:t>
            </a:r>
            <a:r>
              <a:rPr lang="en" b="1">
                <a:solidFill>
                  <a:schemeClr val="dk1"/>
                </a:solidFill>
              </a:rPr>
              <a:t>BERT model</a:t>
            </a:r>
            <a:r>
              <a:rPr lang="en">
                <a:solidFill>
                  <a:schemeClr val="dk1"/>
                </a:solidFill>
              </a:rPr>
              <a:t>, but our methodology evolved when we found BERT only achieved </a:t>
            </a:r>
            <a:r>
              <a:rPr lang="en" b="1">
                <a:solidFill>
                  <a:schemeClr val="dk1"/>
                </a:solidFill>
              </a:rPr>
              <a:t>53.8% accuracy</a:t>
            </a:r>
            <a:r>
              <a:rPr lang="en">
                <a:solidFill>
                  <a:schemeClr val="dk1"/>
                </a:solidFill>
              </a:rPr>
              <a:t> because its small 512-token window missed long-form clauses. We replaced it with a production pipeline using </a:t>
            </a:r>
            <a:r>
              <a:rPr lang="en" b="1">
                <a:solidFill>
                  <a:schemeClr val="dk1"/>
                </a:solidFill>
              </a:rPr>
              <a:t>Gemini 2.5 Flash</a:t>
            </a:r>
            <a:r>
              <a:rPr lang="en">
                <a:solidFill>
                  <a:schemeClr val="dk1"/>
                </a:solidFill>
              </a:rPr>
              <a:t>. By utilizing its </a:t>
            </a:r>
            <a:r>
              <a:rPr lang="en" b="1">
                <a:solidFill>
                  <a:schemeClr val="dk1"/>
                </a:solidFill>
              </a:rPr>
              <a:t>1-million-token context window</a:t>
            </a:r>
            <a:r>
              <a:rPr lang="en">
                <a:solidFill>
                  <a:schemeClr val="dk1"/>
                </a:solidFill>
              </a:rPr>
              <a:t>, we can now pass the entire document—up to 200,000 characters—in a single pass, which eliminated the context fragmentation issues we faced with traditional chunking methods."</a:t>
            </a:r>
            <a:br>
              <a:rPr lang="en">
                <a:solidFill>
                  <a:schemeClr val="dk1"/>
                </a:solidFill>
              </a:rPr>
            </a:b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3. System Results (45s) — Joe</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Visual Focus:</a:t>
            </a:r>
            <a:r>
              <a:rPr lang="en">
                <a:solidFill>
                  <a:schemeClr val="dk1"/>
                </a:solidFill>
              </a:rPr>
              <a:t> "Results" table and "Adversarial Stress Test" chart.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Script:</a:t>
            </a:r>
            <a:r>
              <a:rPr lang="en">
                <a:solidFill>
                  <a:schemeClr val="dk1"/>
                </a:solidFill>
              </a:rPr>
              <a:t> "The impact of moving to full-document extraction was significant. Our production system achieved </a:t>
            </a:r>
            <a:r>
              <a:rPr lang="en" b="1">
                <a:solidFill>
                  <a:schemeClr val="dk1"/>
                </a:solidFill>
              </a:rPr>
              <a:t>86.3% accuracy</a:t>
            </a:r>
            <a:r>
              <a:rPr lang="en">
                <a:solidFill>
                  <a:schemeClr val="dk1"/>
                </a:solidFill>
              </a:rPr>
              <a:t> for entity extraction. More importantly, in our </a:t>
            </a:r>
            <a:r>
              <a:rPr lang="en" b="1">
                <a:solidFill>
                  <a:schemeClr val="dk1"/>
                </a:solidFill>
              </a:rPr>
              <a:t>adversarial stress tests</a:t>
            </a:r>
            <a:r>
              <a:rPr lang="en">
                <a:solidFill>
                  <a:schemeClr val="dk1"/>
                </a:solidFill>
              </a:rPr>
              <a:t>, LexGuard achieved </a:t>
            </a:r>
            <a:r>
              <a:rPr lang="en" b="1">
                <a:solidFill>
                  <a:schemeClr val="dk1"/>
                </a:solidFill>
              </a:rPr>
              <a:t>100% hallucination prevention</a:t>
            </a:r>
            <a:r>
              <a:rPr lang="en">
                <a:solidFill>
                  <a:schemeClr val="dk1"/>
                </a:solidFill>
              </a:rPr>
              <a:t>. While standard prompt-only LLMs often hallucinate answers when faced with tricky queries, LexGuard is strictly grounded in the contract text. This ensures that when our system identifies a high-risk clause, the legal team can trust that it actually exists in the document."</a:t>
            </a:r>
            <a:br>
              <a:rPr lang="en">
                <a:solidFill>
                  <a:schemeClr val="dk1"/>
                </a:solidFill>
              </a:rPr>
            </a:b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4. Conclusion &amp; Demo (45s) — Aditya</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Visual Focus:</a:t>
            </a:r>
            <a:r>
              <a:rPr lang="en">
                <a:solidFill>
                  <a:schemeClr val="dk1"/>
                </a:solidFill>
              </a:rPr>
              <a:t> "Demo" screenshots and "Conclusion" section.</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Script:</a:t>
            </a:r>
            <a:r>
              <a:rPr lang="en">
                <a:solidFill>
                  <a:schemeClr val="dk1"/>
                </a:solidFill>
              </a:rPr>
              <a:t> "As you can see in our demo, LexGuard is a </a:t>
            </a:r>
            <a:r>
              <a:rPr lang="en" b="1">
                <a:solidFill>
                  <a:schemeClr val="dk1"/>
                </a:solidFill>
              </a:rPr>
              <a:t>Streamlit application</a:t>
            </a:r>
            <a:r>
              <a:rPr lang="en">
                <a:solidFill>
                  <a:schemeClr val="dk1"/>
                </a:solidFill>
              </a:rPr>
              <a:t> featuring a professional dark-themed interface. We’ve integrated </a:t>
            </a:r>
            <a:r>
              <a:rPr lang="en" b="1">
                <a:solidFill>
                  <a:schemeClr val="dk1"/>
                </a:solidFill>
              </a:rPr>
              <a:t>Snowflake</a:t>
            </a:r>
            <a:r>
              <a:rPr lang="en">
                <a:solidFill>
                  <a:schemeClr val="dk1"/>
                </a:solidFill>
              </a:rPr>
              <a:t> to provide persistent chat history, allowing users to reload previous sessions with all risk levels and source citations preserved. Our conclusion is clear: </a:t>
            </a:r>
            <a:r>
              <a:rPr lang="en" b="1">
                <a:solidFill>
                  <a:schemeClr val="dk1"/>
                </a:solidFill>
              </a:rPr>
              <a:t>Hybrid RAG</a:t>
            </a:r>
            <a:r>
              <a:rPr lang="en">
                <a:solidFill>
                  <a:schemeClr val="dk1"/>
                </a:solidFill>
              </a:rPr>
              <a:t> combined with long-context LLMs can reliably automate legal auditing at scale. Looking ahead, our next step is to build a full </a:t>
            </a:r>
            <a:r>
              <a:rPr lang="en" b="1">
                <a:solidFill>
                  <a:schemeClr val="dk1"/>
                </a:solidFill>
              </a:rPr>
              <a:t>OCR pipeline</a:t>
            </a:r>
            <a:r>
              <a:rPr lang="en">
                <a:solidFill>
                  <a:schemeClr val="dk1"/>
                </a:solidFill>
              </a:rPr>
              <a:t> to improve accuracy for blurry or noisy scanned contracts. Thank you for your time, and we are now open for any questions.</a:t>
            </a:r>
            <a:endParaRPr>
              <a:solidFill>
                <a:schemeClr val="dk1"/>
              </a:solidFill>
            </a:endParaRPr>
          </a:p>
          <a:p>
            <a:pPr marL="457200" lvl="0" indent="0" algn="l" rtl="0">
              <a:lnSpc>
                <a:spcPct val="115000"/>
              </a:lnSpc>
              <a:spcBef>
                <a:spcPts val="1200"/>
              </a:spcBef>
              <a:spcAft>
                <a:spcPts val="120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8b3b348421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8b3b348421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Speaker 4 (Joe) - Results &amp; Adversarial Testing (2:15 - 3:00)</a:t>
            </a:r>
            <a:endParaRPr b="1">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"Finally, let's discuss our Performance and Adversarial Resilience. For our performance metrics, we achieved an outstanding 97.29% Recall for high-risk cases. Our primary design rationale was to minimize false negatives, because in public health, missing a crisis is the biggest risk. But our system's real strength is its resilience during stress testing. It successfully passed three complex traps: First, 'The Slippery Slope', where the LLM detected hidden relapse intent despite the user claiming '5 years clean'. Second, it successfully distinguished fictional dialogue in the 'Screenwriter' trap. And third, it accurately decoded street language and metaphors in the 'Slang' trap, identifying high risk even without explicit drug keywords. Thank you."</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8b3b348421_2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8b3b348421_2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Slide 2: SubstanceWatch AI Pipeline (Page 2)</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 </a:t>
            </a:r>
            <a:r>
              <a:rPr lang="en" b="1">
                <a:solidFill>
                  <a:schemeClr val="dk1"/>
                </a:solidFill>
              </a:rPr>
              <a:t>Speaker 1 (Manan) - Data Integration (0:00 - 0:45)</a:t>
            </a:r>
            <a:endParaRPr b="1">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"Hi everyone. For this project, we developed SubstanceWatch AI, utilizing a Dual-Threshold Strategy. Looking at Stage 1, our Data Integration , we built a raw data engine using 1.1 million posts from HuggingFace and around 28,000 posts from a Kaggle mental health corpus. To ensure our models train efficiently, we utilized a stratified sub-sampling engine to create an optimized subset of 43,551 rows. This allowed us to build dense vector spaces for specific clusters like Addiction, Distress, and a Safe baseline."</a:t>
            </a:r>
            <a:endParaRPr>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 </a:t>
            </a:r>
            <a:r>
              <a:rPr lang="en" b="1">
                <a:solidFill>
                  <a:schemeClr val="dk1"/>
                </a:solidFill>
              </a:rPr>
              <a:t>Speaker 2 (Catherine) - The ML &amp; RAG Engine (0:45 - 1:30)</a:t>
            </a:r>
            <a:endParaRPr b="1">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"Moving to the core pipeline. Layer 1 acts as our ML Statistical Tripwire, utilizing TF-IDF and Logistic Regression. Its primary role is to maximize recall—acting as a wide net to catch initial substance or distress keywords. Once a signal is flagged, Layer 2 engages ChromaDB Retrieval. It uses a strict L2 distance threshold to retrieve the top 3 similar historical cases. This retrieved grounding context is crucial because it prevents the LLM from hallucinating in the next step."</a:t>
            </a:r>
            <a:endParaRPr>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 </a:t>
            </a:r>
            <a:r>
              <a:rPr lang="en" b="1">
                <a:solidFill>
                  <a:schemeClr val="dk1"/>
                </a:solidFill>
              </a:rPr>
              <a:t>Speaker 3 (Aditya) - The LLM Evaluator (1:30 - 2:15)</a:t>
            </a:r>
            <a:endParaRPr b="1">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"In Stage 3, we generate an Explainable Output. Layer 3 is our Final Evaluator, powered by the Gemini 2.5 LLM. It performs deep internal analysis to distinguish between active crisis signals, like current cravings, and benign text like retrospective recovery stories or podcast promotions. The system then outputs a final AI assessment, such as 'Low Risk', completely backed by a risk summary and supporting evidence with direct quotes from the user's text."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umsystem.hosted.panopto.com/Panopto/Pages/Viewer.aspx?id=750a0cb7-612b-4eee-b021-b4380008d5f2"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lvl="0"/>
            <a:r>
              <a:rPr lang="en-US" sz="3200" dirty="0">
                <a:latin typeface="Times New Roman" panose="02020603050405020304" pitchFamily="18" charset="0"/>
                <a:cs typeface="Times New Roman" panose="02020603050405020304" pitchFamily="18" charset="0"/>
              </a:rPr>
              <a:t>AI Speech Intelligence System:</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Speech-to-Text and Summarization using Foundation Models</a:t>
            </a:r>
            <a:endParaRPr sz="3200" dirty="0">
              <a:latin typeface="Times New Roman" panose="02020603050405020304" pitchFamily="18" charset="0"/>
              <a:cs typeface="Times New Roman" panose="02020603050405020304" pitchFamily="18" charset="0"/>
            </a:endParaRPr>
          </a:p>
        </p:txBody>
      </p:sp>
      <p:sp>
        <p:nvSpPr>
          <p:cNvPr id="55" name="Google Shape;55;p13"/>
          <p:cNvSpPr txBox="1">
            <a:spLocks noGrp="1"/>
          </p:cNvSpPr>
          <p:nvPr>
            <p:ph type="subTitle" idx="1"/>
          </p:nvPr>
        </p:nvSpPr>
        <p:spPr>
          <a:xfrm>
            <a:off x="311700" y="3450813"/>
            <a:ext cx="85206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t>Ruixuan Hou</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C8FFB5-56C6-F5D2-2528-27894CF82C66}"/>
              </a:ext>
            </a:extLst>
          </p:cNvPr>
          <p:cNvSpPr>
            <a:spLocks noGrp="1"/>
          </p:cNvSpPr>
          <p:nvPr>
            <p:ph type="title"/>
          </p:nvPr>
        </p:nvSpPr>
        <p:spPr/>
        <p:txBody>
          <a:bodyPr>
            <a:normAutofit fontScale="90000"/>
          </a:bodyPr>
          <a:lstStyle/>
          <a:p>
            <a:r>
              <a:rPr lang="en-US" altLang="zh-CN" dirty="0"/>
              <a:t>Demo &amp; Links</a:t>
            </a:r>
            <a:endParaRPr lang="zh-CN" altLang="en-US" dirty="0"/>
          </a:p>
        </p:txBody>
      </p:sp>
      <p:sp>
        <p:nvSpPr>
          <p:cNvPr id="3" name="文本占位符 2">
            <a:extLst>
              <a:ext uri="{FF2B5EF4-FFF2-40B4-BE49-F238E27FC236}">
                <a16:creationId xmlns:a16="http://schemas.microsoft.com/office/drawing/2014/main" id="{53174598-BE96-8828-9969-109484F46795}"/>
              </a:ext>
            </a:extLst>
          </p:cNvPr>
          <p:cNvSpPr>
            <a:spLocks noGrp="1"/>
          </p:cNvSpPr>
          <p:nvPr>
            <p:ph type="body" idx="1"/>
          </p:nvPr>
        </p:nvSpPr>
        <p:spPr/>
        <p:txBody>
          <a:bodyPr/>
          <a:lstStyle/>
          <a:p>
            <a:r>
              <a:rPr lang="en-US" altLang="zh-CN" dirty="0"/>
              <a:t>Demo Video: </a:t>
            </a:r>
            <a:r>
              <a:rPr lang="en-US" altLang="zh-CN" dirty="0">
                <a:hlinkClick r:id="rId2"/>
              </a:rPr>
              <a:t>https://umsystem.hosted.panopto.com/Panopto/Pages/Viewer.aspx?id=750a0cb7-612b-4eee-b021-b4380008d5f2</a:t>
            </a:r>
            <a:endParaRPr lang="en-US" altLang="zh-CN" dirty="0"/>
          </a:p>
          <a:p>
            <a:endParaRPr lang="en-US" altLang="zh-CN" dirty="0"/>
          </a:p>
          <a:p>
            <a:r>
              <a:rPr lang="en-US" altLang="zh-CN" dirty="0"/>
              <a:t>GitHub Repository: https://github.com/RHou02/quiz_c2_o1</a:t>
            </a:r>
            <a:endParaRPr lang="zh-CN" altLang="en-US" dirty="0"/>
          </a:p>
        </p:txBody>
      </p:sp>
    </p:spTree>
    <p:extLst>
      <p:ext uri="{BB962C8B-B14F-4D97-AF65-F5344CB8AC3E}">
        <p14:creationId xmlns:p14="http://schemas.microsoft.com/office/powerpoint/2010/main" val="1889764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1881A1-ECE5-EE85-64F2-1039064C4F88}"/>
              </a:ext>
            </a:extLst>
          </p:cNvPr>
          <p:cNvSpPr>
            <a:spLocks noGrp="1"/>
          </p:cNvSpPr>
          <p:nvPr>
            <p:ph type="title"/>
          </p:nvPr>
        </p:nvSpPr>
        <p:spPr/>
        <p:txBody>
          <a:bodyPr>
            <a:normAutofit fontScale="90000"/>
          </a:bodyPr>
          <a:lstStyle/>
          <a:p>
            <a:r>
              <a:rPr lang="en-US" altLang="zh-CN" dirty="0"/>
              <a:t>Problem Description</a:t>
            </a:r>
            <a:endParaRPr lang="zh-CN" altLang="en-US" dirty="0"/>
          </a:p>
        </p:txBody>
      </p:sp>
      <p:sp>
        <p:nvSpPr>
          <p:cNvPr id="3" name="文本占位符 2">
            <a:extLst>
              <a:ext uri="{FF2B5EF4-FFF2-40B4-BE49-F238E27FC236}">
                <a16:creationId xmlns:a16="http://schemas.microsoft.com/office/drawing/2014/main" id="{F4272B5D-586B-F318-B8F2-15F8F1699C79}"/>
              </a:ext>
            </a:extLst>
          </p:cNvPr>
          <p:cNvSpPr>
            <a:spLocks noGrp="1"/>
          </p:cNvSpPr>
          <p:nvPr>
            <p:ph type="body" idx="1"/>
          </p:nvPr>
        </p:nvSpPr>
        <p:spPr/>
        <p:txBody>
          <a:bodyPr/>
          <a:lstStyle/>
          <a:p>
            <a:r>
              <a:rPr lang="en-US" altLang="zh-CN" dirty="0"/>
              <a:t>Speech data is widely used in lectures, meetings, and daily communication. However, audio content is difficult to quickly process and understand.</a:t>
            </a:r>
          </a:p>
          <a:p>
            <a:endParaRPr lang="en-US" altLang="zh-CN" dirty="0"/>
          </a:p>
          <a:p>
            <a:r>
              <a:rPr lang="en-US" altLang="zh-CN" dirty="0"/>
              <a:t>This simple system builds an AI system that converts speech into text and generates concise summaries.</a:t>
            </a:r>
            <a:endParaRPr lang="zh-CN" altLang="en-US" dirty="0"/>
          </a:p>
        </p:txBody>
      </p:sp>
    </p:spTree>
    <p:extLst>
      <p:ext uri="{BB962C8B-B14F-4D97-AF65-F5344CB8AC3E}">
        <p14:creationId xmlns:p14="http://schemas.microsoft.com/office/powerpoint/2010/main" val="1200460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25AFE5-810E-5812-9EAE-99C150D38AA3}"/>
              </a:ext>
            </a:extLst>
          </p:cNvPr>
          <p:cNvSpPr>
            <a:spLocks noGrp="1"/>
          </p:cNvSpPr>
          <p:nvPr>
            <p:ph type="title"/>
          </p:nvPr>
        </p:nvSpPr>
        <p:spPr/>
        <p:txBody>
          <a:bodyPr>
            <a:normAutofit fontScale="90000"/>
          </a:bodyPr>
          <a:lstStyle/>
          <a:p>
            <a:r>
              <a:rPr lang="en-US" altLang="zh-CN" dirty="0"/>
              <a:t>Business Value</a:t>
            </a:r>
            <a:endParaRPr lang="zh-CN" altLang="en-US" dirty="0"/>
          </a:p>
        </p:txBody>
      </p:sp>
      <p:sp>
        <p:nvSpPr>
          <p:cNvPr id="3" name="文本占位符 2">
            <a:extLst>
              <a:ext uri="{FF2B5EF4-FFF2-40B4-BE49-F238E27FC236}">
                <a16:creationId xmlns:a16="http://schemas.microsoft.com/office/drawing/2014/main" id="{251B14BC-0DCA-392A-09F8-E1A248EF4313}"/>
              </a:ext>
            </a:extLst>
          </p:cNvPr>
          <p:cNvSpPr>
            <a:spLocks noGrp="1"/>
          </p:cNvSpPr>
          <p:nvPr>
            <p:ph type="body" idx="1"/>
          </p:nvPr>
        </p:nvSpPr>
        <p:spPr/>
        <p:txBody>
          <a:bodyPr/>
          <a:lstStyle/>
          <a:p>
            <a:r>
              <a:rPr lang="en-US" altLang="zh-CN" dirty="0"/>
              <a:t> Saves time in processing long audio recordings</a:t>
            </a:r>
          </a:p>
          <a:p>
            <a:r>
              <a:rPr lang="en-US" altLang="zh-CN" dirty="0"/>
              <a:t> Useful for meeting summarization and smart assistants</a:t>
            </a:r>
          </a:p>
          <a:p>
            <a:r>
              <a:rPr lang="en-US" altLang="zh-CN" dirty="0"/>
              <a:t> Can support education, healthcare, and customer service</a:t>
            </a:r>
          </a:p>
          <a:p>
            <a:r>
              <a:rPr lang="en-US" altLang="zh-CN" dirty="0"/>
              <a:t> Improves accessibility of spoken content</a:t>
            </a:r>
            <a:endParaRPr lang="zh-CN" altLang="en-US" dirty="0"/>
          </a:p>
        </p:txBody>
      </p:sp>
    </p:spTree>
    <p:extLst>
      <p:ext uri="{BB962C8B-B14F-4D97-AF65-F5344CB8AC3E}">
        <p14:creationId xmlns:p14="http://schemas.microsoft.com/office/powerpoint/2010/main" val="2810901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Datasets</a:t>
            </a:r>
            <a:endParaRPr dirty="0">
              <a:latin typeface="Times New Roman" panose="02020603050405020304" pitchFamily="18" charset="0"/>
              <a:cs typeface="Times New Roman" panose="02020603050405020304" pitchFamily="18" charset="0"/>
            </a:endParaRPr>
          </a:p>
        </p:txBody>
      </p:sp>
      <p:sp>
        <p:nvSpPr>
          <p:cNvPr id="69" name="Google Shape;69;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spcAft>
                <a:spcPts val="1200"/>
              </a:spcAft>
              <a:buNone/>
            </a:pPr>
            <a:r>
              <a:rPr lang="en-US" altLang="zh-CN" dirty="0" err="1"/>
              <a:t>librispeech_asr</a:t>
            </a:r>
            <a:r>
              <a:rPr lang="en-US" altLang="zh-CN" dirty="0"/>
              <a:t> (main dataset), hf-internal-testing/</a:t>
            </a:r>
            <a:r>
              <a:rPr lang="en-US" altLang="zh-CN" dirty="0" err="1"/>
              <a:t>librispeech_asr_dummy</a:t>
            </a:r>
            <a:r>
              <a:rPr lang="en-US" altLang="zh-CN" dirty="0"/>
              <a:t>, etc.</a:t>
            </a:r>
          </a:p>
          <a:p>
            <a:pPr marL="0" indent="0">
              <a:spcAft>
                <a:spcPts val="1200"/>
              </a:spcAft>
              <a:buNone/>
            </a:pPr>
            <a:endParaRPr lang="en-US" altLang="zh-CN" dirty="0"/>
          </a:p>
          <a:p>
            <a:pPr marL="0" indent="0">
              <a:spcAft>
                <a:spcPts val="1200"/>
              </a:spcAft>
              <a:buNone/>
            </a:pPr>
            <a:r>
              <a:rPr lang="en-US" altLang="zh-CN" dirty="0">
                <a:solidFill>
                  <a:schemeClr val="tx1"/>
                </a:solidFill>
              </a:rPr>
              <a:t>Purpose:</a:t>
            </a:r>
          </a:p>
          <a:p>
            <a:pPr marL="0" indent="0">
              <a:spcAft>
                <a:spcPts val="1200"/>
              </a:spcAft>
              <a:buNone/>
            </a:pPr>
            <a:r>
              <a:rPr lang="en-US" altLang="zh-CN" dirty="0">
                <a:solidFill>
                  <a:schemeClr val="tx1"/>
                </a:solidFill>
              </a:rPr>
              <a:t>Robustness evaluation</a:t>
            </a:r>
          </a:p>
          <a:p>
            <a:pPr marL="0" indent="0">
              <a:spcAft>
                <a:spcPts val="1200"/>
              </a:spcAft>
              <a:buNone/>
            </a:pPr>
            <a:r>
              <a:rPr lang="en-US" altLang="zh-CN" dirty="0">
                <a:solidFill>
                  <a:schemeClr val="tx1"/>
                </a:solidFill>
              </a:rPr>
              <a:t>More realistic speech intelligence testing</a:t>
            </a:r>
          </a:p>
          <a:p>
            <a:pPr marL="0" indent="0">
              <a:spcAft>
                <a:spcPts val="1200"/>
              </a:spcAft>
              <a:buNone/>
            </a:pPr>
            <a:r>
              <a:rPr lang="en-US" altLang="zh-CN" dirty="0">
                <a:solidFill>
                  <a:schemeClr val="tx1"/>
                </a:solidFill>
              </a:rPr>
              <a:t>Reduce hallucination effects</a:t>
            </a:r>
          </a:p>
          <a:p>
            <a:pPr marL="0" indent="0">
              <a:spcAft>
                <a:spcPts val="1200"/>
              </a:spcAft>
              <a:buNone/>
            </a:pP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7698BE-EF22-30E3-427E-499D95DBF610}"/>
              </a:ext>
            </a:extLst>
          </p:cNvPr>
          <p:cNvSpPr>
            <a:spLocks noGrp="1"/>
          </p:cNvSpPr>
          <p:nvPr>
            <p:ph type="title"/>
          </p:nvPr>
        </p:nvSpPr>
        <p:spPr/>
        <p:txBody>
          <a:bodyPr>
            <a:normAutofit fontScale="90000"/>
          </a:bodyPr>
          <a:lstStyle/>
          <a:p>
            <a:r>
              <a:rPr lang="en-US" altLang="zh-CN" dirty="0"/>
              <a:t>Models Used</a:t>
            </a:r>
            <a:endParaRPr lang="zh-CN" altLang="en-US" dirty="0"/>
          </a:p>
        </p:txBody>
      </p:sp>
      <p:sp>
        <p:nvSpPr>
          <p:cNvPr id="3" name="文本占位符 2">
            <a:extLst>
              <a:ext uri="{FF2B5EF4-FFF2-40B4-BE49-F238E27FC236}">
                <a16:creationId xmlns:a16="http://schemas.microsoft.com/office/drawing/2014/main" id="{A69F2504-8FE5-8754-486C-CB251CFD1967}"/>
              </a:ext>
            </a:extLst>
          </p:cNvPr>
          <p:cNvSpPr>
            <a:spLocks noGrp="1"/>
          </p:cNvSpPr>
          <p:nvPr>
            <p:ph type="body" idx="1"/>
          </p:nvPr>
        </p:nvSpPr>
        <p:spPr/>
        <p:txBody>
          <a:bodyPr/>
          <a:lstStyle/>
          <a:p>
            <a:endParaRPr lang="en-US" altLang="zh-CN" dirty="0"/>
          </a:p>
          <a:p>
            <a:r>
              <a:rPr lang="en-US" altLang="zh-CN" dirty="0"/>
              <a:t>Speech-to-Text: Whisper Small</a:t>
            </a:r>
          </a:p>
          <a:p>
            <a:pPr marL="114300" indent="0">
              <a:buNone/>
            </a:pPr>
            <a:endParaRPr lang="en-US" altLang="zh-CN" dirty="0"/>
          </a:p>
          <a:p>
            <a:r>
              <a:rPr lang="en-US" altLang="zh-CN" dirty="0"/>
              <a:t>Summarization: FLAN-T5</a:t>
            </a:r>
            <a:endParaRPr lang="zh-CN" altLang="en-US" dirty="0"/>
          </a:p>
        </p:txBody>
      </p:sp>
    </p:spTree>
    <p:extLst>
      <p:ext uri="{BB962C8B-B14F-4D97-AF65-F5344CB8AC3E}">
        <p14:creationId xmlns:p14="http://schemas.microsoft.com/office/powerpoint/2010/main" val="1577090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B8DE1-3BEA-DE4F-7350-58DE309F3E79}"/>
              </a:ext>
            </a:extLst>
          </p:cNvPr>
          <p:cNvSpPr>
            <a:spLocks noGrp="1"/>
          </p:cNvSpPr>
          <p:nvPr>
            <p:ph type="title"/>
          </p:nvPr>
        </p:nvSpPr>
        <p:spPr/>
        <p:txBody>
          <a:bodyPr>
            <a:normAutofit fontScale="90000"/>
          </a:bodyPr>
          <a:lstStyle/>
          <a:p>
            <a:r>
              <a:rPr lang="en-US" altLang="zh-CN" dirty="0"/>
              <a:t>Pipeline Architecture</a:t>
            </a:r>
            <a:endParaRPr lang="zh-CN" altLang="en-US" dirty="0"/>
          </a:p>
        </p:txBody>
      </p:sp>
      <p:sp>
        <p:nvSpPr>
          <p:cNvPr id="3" name="文本占位符 2">
            <a:extLst>
              <a:ext uri="{FF2B5EF4-FFF2-40B4-BE49-F238E27FC236}">
                <a16:creationId xmlns:a16="http://schemas.microsoft.com/office/drawing/2014/main" id="{E1C0F7CD-0C51-24C5-0743-28F0FD8DF5B4}"/>
              </a:ext>
            </a:extLst>
          </p:cNvPr>
          <p:cNvSpPr>
            <a:spLocks noGrp="1"/>
          </p:cNvSpPr>
          <p:nvPr>
            <p:ph type="body" idx="1"/>
          </p:nvPr>
        </p:nvSpPr>
        <p:spPr/>
        <p:txBody>
          <a:bodyPr/>
          <a:lstStyle/>
          <a:p>
            <a:pPr marL="114300" indent="0" algn="ctr">
              <a:buNone/>
            </a:pPr>
            <a:r>
              <a:rPr lang="en-US" altLang="zh-CN" dirty="0"/>
              <a:t>Audio Input </a:t>
            </a:r>
          </a:p>
          <a:p>
            <a:pPr marL="114300" indent="0" algn="ctr">
              <a:buNone/>
            </a:pPr>
            <a:r>
              <a:rPr lang="en-US" altLang="zh-CN" dirty="0"/>
              <a:t>↓</a:t>
            </a:r>
          </a:p>
          <a:p>
            <a:pPr marL="114300" indent="0" algn="ctr">
              <a:buNone/>
            </a:pPr>
            <a:r>
              <a:rPr lang="en-US" altLang="zh-CN" dirty="0"/>
              <a:t>Whisper (ASR)    </a:t>
            </a:r>
          </a:p>
          <a:p>
            <a:pPr marL="114300" indent="0" algn="ctr">
              <a:buNone/>
            </a:pPr>
            <a:r>
              <a:rPr lang="en-US" altLang="zh-CN" dirty="0"/>
              <a:t>↓</a:t>
            </a:r>
          </a:p>
          <a:p>
            <a:pPr marL="114300" indent="0" algn="ctr">
              <a:buNone/>
            </a:pPr>
            <a:r>
              <a:rPr lang="en-US" altLang="zh-CN" dirty="0"/>
              <a:t>Transcribed Text    </a:t>
            </a:r>
          </a:p>
          <a:p>
            <a:pPr marL="114300" indent="0" algn="ctr">
              <a:buNone/>
            </a:pPr>
            <a:r>
              <a:rPr lang="en-US" altLang="zh-CN" dirty="0"/>
              <a:t>↓</a:t>
            </a:r>
          </a:p>
          <a:p>
            <a:pPr marL="114300" indent="0" algn="ctr">
              <a:buNone/>
            </a:pPr>
            <a:r>
              <a:rPr lang="en-US" altLang="zh-CN" dirty="0"/>
              <a:t>FLAN-T5 (Summarization)   </a:t>
            </a:r>
          </a:p>
          <a:p>
            <a:pPr marL="114300" indent="0" algn="ctr">
              <a:buNone/>
            </a:pPr>
            <a:r>
              <a:rPr lang="en-US" altLang="zh-CN" dirty="0"/>
              <a:t> ↓</a:t>
            </a:r>
          </a:p>
          <a:p>
            <a:pPr marL="114300" indent="0" algn="ctr">
              <a:buNone/>
            </a:pPr>
            <a:r>
              <a:rPr lang="en-US" altLang="zh-CN" dirty="0"/>
              <a:t>Final Summary Output</a:t>
            </a:r>
            <a:endParaRPr lang="zh-CN" altLang="en-US" dirty="0"/>
          </a:p>
        </p:txBody>
      </p:sp>
    </p:spTree>
    <p:extLst>
      <p:ext uri="{BB962C8B-B14F-4D97-AF65-F5344CB8AC3E}">
        <p14:creationId xmlns:p14="http://schemas.microsoft.com/office/powerpoint/2010/main" val="2266393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D312B4-2D66-846B-4AFD-5BFBDEE16238}"/>
              </a:ext>
            </a:extLst>
          </p:cNvPr>
          <p:cNvSpPr>
            <a:spLocks noGrp="1"/>
          </p:cNvSpPr>
          <p:nvPr>
            <p:ph type="title"/>
          </p:nvPr>
        </p:nvSpPr>
        <p:spPr/>
        <p:txBody>
          <a:bodyPr>
            <a:normAutofit fontScale="90000"/>
          </a:bodyPr>
          <a:lstStyle/>
          <a:p>
            <a:r>
              <a:rPr lang="en-US" altLang="zh-CN" dirty="0"/>
              <a:t>Prompt / Input Engineering</a:t>
            </a:r>
            <a:endParaRPr lang="zh-CN" altLang="en-US" dirty="0"/>
          </a:p>
        </p:txBody>
      </p:sp>
      <p:sp>
        <p:nvSpPr>
          <p:cNvPr id="3" name="文本占位符 2">
            <a:extLst>
              <a:ext uri="{FF2B5EF4-FFF2-40B4-BE49-F238E27FC236}">
                <a16:creationId xmlns:a16="http://schemas.microsoft.com/office/drawing/2014/main" id="{F4ECAA5C-56CE-224B-C3E6-2914F67901E0}"/>
              </a:ext>
            </a:extLst>
          </p:cNvPr>
          <p:cNvSpPr>
            <a:spLocks noGrp="1"/>
          </p:cNvSpPr>
          <p:nvPr>
            <p:ph type="body" idx="1"/>
          </p:nvPr>
        </p:nvSpPr>
        <p:spPr/>
        <p:txBody>
          <a:bodyPr/>
          <a:lstStyle/>
          <a:p>
            <a:r>
              <a:rPr lang="en-US" altLang="zh-CN" dirty="0"/>
              <a:t>Baseline Prompt: Simple instruction: “Summarize the text”</a:t>
            </a:r>
          </a:p>
          <a:p>
            <a:endParaRPr lang="en-US" altLang="zh-CN" dirty="0"/>
          </a:p>
          <a:p>
            <a:r>
              <a:rPr lang="en-US" altLang="zh-CN" dirty="0"/>
              <a:t>Improved Prompt:</a:t>
            </a:r>
          </a:p>
          <a:p>
            <a:pPr marL="114300" indent="0">
              <a:buNone/>
            </a:pPr>
            <a:r>
              <a:rPr lang="en-US" altLang="zh-CN" dirty="0"/>
              <a:t>• Strict constraints:</a:t>
            </a:r>
          </a:p>
          <a:p>
            <a:pPr marL="114300" indent="0">
              <a:buNone/>
            </a:pPr>
            <a:r>
              <a:rPr lang="en-US" altLang="zh-CN" dirty="0"/>
              <a:t>	• No hallucination</a:t>
            </a:r>
          </a:p>
          <a:p>
            <a:pPr marL="114300" indent="0">
              <a:buNone/>
            </a:pPr>
            <a:r>
              <a:rPr lang="en-US" altLang="zh-CN" dirty="0"/>
              <a:t>	• No external knowledge</a:t>
            </a:r>
          </a:p>
          <a:p>
            <a:pPr marL="114300" indent="0">
              <a:buNone/>
            </a:pPr>
            <a:r>
              <a:rPr lang="en-US" altLang="zh-CN" dirty="0"/>
              <a:t>	• Concise rewriting</a:t>
            </a:r>
          </a:p>
          <a:p>
            <a:pPr marL="114300" indent="0">
              <a:buNone/>
            </a:pPr>
            <a:r>
              <a:rPr lang="en-US" altLang="zh-CN" dirty="0"/>
              <a:t>	• Faithful to input</a:t>
            </a:r>
            <a:endParaRPr lang="zh-CN" altLang="en-US" dirty="0"/>
          </a:p>
        </p:txBody>
      </p:sp>
    </p:spTree>
    <p:extLst>
      <p:ext uri="{BB962C8B-B14F-4D97-AF65-F5344CB8AC3E}">
        <p14:creationId xmlns:p14="http://schemas.microsoft.com/office/powerpoint/2010/main" val="325472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EB6A3-DF22-3B7C-34C4-945B2D3B71EA}"/>
              </a:ext>
            </a:extLst>
          </p:cNvPr>
          <p:cNvSpPr>
            <a:spLocks noGrp="1"/>
          </p:cNvSpPr>
          <p:nvPr>
            <p:ph type="title"/>
          </p:nvPr>
        </p:nvSpPr>
        <p:spPr/>
        <p:txBody>
          <a:bodyPr>
            <a:normAutofit fontScale="90000"/>
          </a:bodyPr>
          <a:lstStyle/>
          <a:p>
            <a:r>
              <a:rPr lang="en-US" altLang="zh-CN" dirty="0"/>
              <a:t>Results (</a:t>
            </a:r>
            <a:r>
              <a:rPr lang="en-US" altLang="zh-CN" dirty="0" err="1"/>
              <a:t>librispeech_asr</a:t>
            </a:r>
            <a:r>
              <a:rPr lang="en-US" altLang="zh-CN" dirty="0"/>
              <a:t> )</a:t>
            </a:r>
            <a:endParaRPr lang="zh-CN" altLang="en-US" dirty="0"/>
          </a:p>
        </p:txBody>
      </p:sp>
      <p:sp>
        <p:nvSpPr>
          <p:cNvPr id="3" name="文本占位符 2">
            <a:extLst>
              <a:ext uri="{FF2B5EF4-FFF2-40B4-BE49-F238E27FC236}">
                <a16:creationId xmlns:a16="http://schemas.microsoft.com/office/drawing/2014/main" id="{7A1A90D9-1B9E-41A3-1D2F-8C5A474CF087}"/>
              </a:ext>
            </a:extLst>
          </p:cNvPr>
          <p:cNvSpPr>
            <a:spLocks noGrp="1"/>
          </p:cNvSpPr>
          <p:nvPr>
            <p:ph type="body" idx="1"/>
          </p:nvPr>
        </p:nvSpPr>
        <p:spPr/>
        <p:txBody>
          <a:bodyPr>
            <a:normAutofit/>
          </a:bodyPr>
          <a:lstStyle/>
          <a:p>
            <a:r>
              <a:rPr lang="en-US" altLang="zh-CN" sz="1400" dirty="0"/>
              <a:t>Here are the transcription, </a:t>
            </a:r>
            <a:r>
              <a:rPr lang="en-US" altLang="zh-CN" sz="1400" dirty="0" err="1"/>
              <a:t>basline</a:t>
            </a:r>
            <a:r>
              <a:rPr lang="en-US" altLang="zh-CN" sz="1400" dirty="0"/>
              <a:t> summary and improved summary.</a:t>
            </a:r>
          </a:p>
          <a:p>
            <a:endParaRPr lang="en-US" altLang="zh-CN" sz="1400" dirty="0"/>
          </a:p>
          <a:p>
            <a:endParaRPr lang="en-US" altLang="zh-CN" sz="1400" dirty="0"/>
          </a:p>
          <a:p>
            <a:endParaRPr lang="en-US" altLang="zh-CN" sz="1400" dirty="0"/>
          </a:p>
          <a:p>
            <a:endParaRPr lang="en-US" altLang="zh-CN" sz="1400" dirty="0"/>
          </a:p>
          <a:p>
            <a:endParaRPr lang="en-US" altLang="zh-CN" sz="1400" dirty="0"/>
          </a:p>
          <a:p>
            <a:endParaRPr lang="en-US" altLang="zh-CN" sz="1400" dirty="0"/>
          </a:p>
          <a:p>
            <a:endParaRPr lang="en-US" altLang="zh-CN" sz="1400" dirty="0"/>
          </a:p>
          <a:p>
            <a:r>
              <a:rPr lang="en-US" altLang="zh-CN" sz="1400" dirty="0"/>
              <a:t>Baseline vs. Improved: We can see baseline summary has hallucination, improved summary is more accurate.  </a:t>
            </a:r>
            <a:endParaRPr lang="zh-CN" altLang="en-US" sz="1400" dirty="0"/>
          </a:p>
        </p:txBody>
      </p:sp>
      <p:pic>
        <p:nvPicPr>
          <p:cNvPr id="5" name="图片 4">
            <a:extLst>
              <a:ext uri="{FF2B5EF4-FFF2-40B4-BE49-F238E27FC236}">
                <a16:creationId xmlns:a16="http://schemas.microsoft.com/office/drawing/2014/main" id="{75F1C023-B237-61E8-3E9E-F0CDCD158DCA}"/>
              </a:ext>
            </a:extLst>
          </p:cNvPr>
          <p:cNvPicPr>
            <a:picLocks noChangeAspect="1"/>
          </p:cNvPicPr>
          <p:nvPr/>
        </p:nvPicPr>
        <p:blipFill>
          <a:blip r:embed="rId2"/>
          <a:stretch>
            <a:fillRect/>
          </a:stretch>
        </p:blipFill>
        <p:spPr>
          <a:xfrm>
            <a:off x="311700" y="1643504"/>
            <a:ext cx="8520601" cy="617317"/>
          </a:xfrm>
          <a:prstGeom prst="rect">
            <a:avLst/>
          </a:prstGeom>
        </p:spPr>
      </p:pic>
      <p:pic>
        <p:nvPicPr>
          <p:cNvPr id="7" name="图片 6">
            <a:extLst>
              <a:ext uri="{FF2B5EF4-FFF2-40B4-BE49-F238E27FC236}">
                <a16:creationId xmlns:a16="http://schemas.microsoft.com/office/drawing/2014/main" id="{44B9E476-D168-E95D-739A-FE8F2C001976}"/>
              </a:ext>
            </a:extLst>
          </p:cNvPr>
          <p:cNvPicPr>
            <a:picLocks noChangeAspect="1"/>
          </p:cNvPicPr>
          <p:nvPr/>
        </p:nvPicPr>
        <p:blipFill>
          <a:blip r:embed="rId3"/>
          <a:stretch>
            <a:fillRect/>
          </a:stretch>
        </p:blipFill>
        <p:spPr>
          <a:xfrm>
            <a:off x="452437" y="2367704"/>
            <a:ext cx="2752725" cy="666750"/>
          </a:xfrm>
          <a:prstGeom prst="rect">
            <a:avLst/>
          </a:prstGeom>
        </p:spPr>
      </p:pic>
      <p:pic>
        <p:nvPicPr>
          <p:cNvPr id="9" name="图片 8">
            <a:extLst>
              <a:ext uri="{FF2B5EF4-FFF2-40B4-BE49-F238E27FC236}">
                <a16:creationId xmlns:a16="http://schemas.microsoft.com/office/drawing/2014/main" id="{6063A8F3-C4DA-162F-2E91-352A6340FC98}"/>
              </a:ext>
            </a:extLst>
          </p:cNvPr>
          <p:cNvPicPr>
            <a:picLocks noChangeAspect="1"/>
          </p:cNvPicPr>
          <p:nvPr/>
        </p:nvPicPr>
        <p:blipFill>
          <a:blip r:embed="rId4"/>
          <a:stretch>
            <a:fillRect/>
          </a:stretch>
        </p:blipFill>
        <p:spPr>
          <a:xfrm>
            <a:off x="3408217" y="2449174"/>
            <a:ext cx="5437491" cy="572699"/>
          </a:xfrm>
          <a:prstGeom prst="rect">
            <a:avLst/>
          </a:prstGeom>
        </p:spPr>
      </p:pic>
    </p:spTree>
    <p:extLst>
      <p:ext uri="{BB962C8B-B14F-4D97-AF65-F5344CB8AC3E}">
        <p14:creationId xmlns:p14="http://schemas.microsoft.com/office/powerpoint/2010/main" val="1781813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r>
              <a:rPr lang="en-US" dirty="0"/>
              <a:t>Limitations (Dataset Comparison)</a:t>
            </a:r>
            <a:endParaRPr dirty="0"/>
          </a:p>
        </p:txBody>
      </p:sp>
      <p:sp>
        <p:nvSpPr>
          <p:cNvPr id="62" name="Google Shape;62;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spcAft>
                <a:spcPts val="1200"/>
              </a:spcAft>
              <a:buNone/>
            </a:pPr>
            <a:r>
              <a:rPr lang="en-US" dirty="0"/>
              <a:t> I tried hf-internal-testing/</a:t>
            </a:r>
            <a:r>
              <a:rPr lang="en-US" dirty="0" err="1"/>
              <a:t>librispeech_asr_dummy</a:t>
            </a:r>
            <a:r>
              <a:rPr lang="en-US" dirty="0"/>
              <a:t>.</a:t>
            </a:r>
          </a:p>
          <a:p>
            <a:pPr marL="0" lvl="0" indent="0">
              <a:spcAft>
                <a:spcPts val="1200"/>
              </a:spcAft>
              <a:buNone/>
            </a:pPr>
            <a:r>
              <a:rPr lang="en-US" altLang="zh-CN" sz="1200" dirty="0"/>
              <a:t>Characteristics: Very short speech samples, Low information density.</a:t>
            </a:r>
          </a:p>
          <a:p>
            <a:pPr marL="0" lvl="0" indent="0">
              <a:spcAft>
                <a:spcPts val="1200"/>
              </a:spcAft>
              <a:buNone/>
            </a:pPr>
            <a:r>
              <a:rPr lang="en-US" sz="1200" dirty="0"/>
              <a:t> Limitations: lead to increased hallucination in summarization.</a:t>
            </a:r>
          </a:p>
          <a:p>
            <a:pPr marL="0" lvl="0" indent="0">
              <a:spcAft>
                <a:spcPts val="1200"/>
              </a:spcAft>
              <a:buNone/>
            </a:pPr>
            <a:r>
              <a:rPr lang="en-US" sz="1200" dirty="0"/>
              <a:t>This is not due to code failure, but rather due to limited contextual information, which makes it difficult for the model to generate faithful summaries.</a:t>
            </a:r>
            <a:endParaRPr sz="1200" dirty="0"/>
          </a:p>
        </p:txBody>
      </p:sp>
      <p:pic>
        <p:nvPicPr>
          <p:cNvPr id="3" name="图片 2">
            <a:extLst>
              <a:ext uri="{FF2B5EF4-FFF2-40B4-BE49-F238E27FC236}">
                <a16:creationId xmlns:a16="http://schemas.microsoft.com/office/drawing/2014/main" id="{66EE7CAD-893F-C094-5C20-8545651C0F82}"/>
              </a:ext>
            </a:extLst>
          </p:cNvPr>
          <p:cNvPicPr>
            <a:picLocks/>
          </p:cNvPicPr>
          <p:nvPr/>
        </p:nvPicPr>
        <p:blipFill>
          <a:blip r:embed="rId3"/>
          <a:srcRect t="85828"/>
          <a:stretch>
            <a:fillRect/>
          </a:stretch>
        </p:blipFill>
        <p:spPr>
          <a:xfrm>
            <a:off x="532056" y="2904090"/>
            <a:ext cx="7682430" cy="718742"/>
          </a:xfrm>
          <a:prstGeom prst="rect">
            <a:avLst/>
          </a:prstGeom>
        </p:spPr>
      </p:pic>
      <p:pic>
        <p:nvPicPr>
          <p:cNvPr id="5" name="图片 4">
            <a:extLst>
              <a:ext uri="{FF2B5EF4-FFF2-40B4-BE49-F238E27FC236}">
                <a16:creationId xmlns:a16="http://schemas.microsoft.com/office/drawing/2014/main" id="{34A8A27C-2445-FF18-30C5-EE2C64692710}"/>
              </a:ext>
            </a:extLst>
          </p:cNvPr>
          <p:cNvPicPr>
            <a:picLocks/>
          </p:cNvPicPr>
          <p:nvPr/>
        </p:nvPicPr>
        <p:blipFill>
          <a:blip r:embed="rId4"/>
          <a:srcRect t="85061"/>
          <a:stretch>
            <a:fillRect/>
          </a:stretch>
        </p:blipFill>
        <p:spPr>
          <a:xfrm>
            <a:off x="748943" y="3690207"/>
            <a:ext cx="5410032" cy="506772"/>
          </a:xfrm>
          <a:prstGeom prst="rect">
            <a:avLst/>
          </a:prstGeom>
        </p:spPr>
      </p:pic>
      <p:pic>
        <p:nvPicPr>
          <p:cNvPr id="7" name="图片 6">
            <a:extLst>
              <a:ext uri="{FF2B5EF4-FFF2-40B4-BE49-F238E27FC236}">
                <a16:creationId xmlns:a16="http://schemas.microsoft.com/office/drawing/2014/main" id="{3EB90EB4-84DF-6252-CB41-9F34EBF92CF5}"/>
              </a:ext>
            </a:extLst>
          </p:cNvPr>
          <p:cNvPicPr>
            <a:picLocks/>
          </p:cNvPicPr>
          <p:nvPr/>
        </p:nvPicPr>
        <p:blipFill>
          <a:blip r:embed="rId5"/>
          <a:srcRect t="85236"/>
          <a:stretch>
            <a:fillRect/>
          </a:stretch>
        </p:blipFill>
        <p:spPr>
          <a:xfrm>
            <a:off x="748943" y="4264354"/>
            <a:ext cx="5689642" cy="5067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57FF95-038B-447E-086D-7F1F7F7E4011}"/>
              </a:ext>
            </a:extLst>
          </p:cNvPr>
          <p:cNvSpPr>
            <a:spLocks noGrp="1"/>
          </p:cNvSpPr>
          <p:nvPr>
            <p:ph type="title"/>
          </p:nvPr>
        </p:nvSpPr>
        <p:spPr/>
        <p:txBody>
          <a:bodyPr>
            <a:normAutofit fontScale="90000"/>
          </a:bodyPr>
          <a:lstStyle/>
          <a:p>
            <a:r>
              <a:rPr lang="en-US" altLang="zh-CN" dirty="0"/>
              <a:t>Tools Used</a:t>
            </a:r>
            <a:endParaRPr lang="zh-CN" altLang="en-US" dirty="0"/>
          </a:p>
        </p:txBody>
      </p:sp>
      <p:sp>
        <p:nvSpPr>
          <p:cNvPr id="3" name="文本占位符 2">
            <a:extLst>
              <a:ext uri="{FF2B5EF4-FFF2-40B4-BE49-F238E27FC236}">
                <a16:creationId xmlns:a16="http://schemas.microsoft.com/office/drawing/2014/main" id="{DBEAAAA8-83B8-85F3-3166-BCF8D991472A}"/>
              </a:ext>
            </a:extLst>
          </p:cNvPr>
          <p:cNvSpPr>
            <a:spLocks noGrp="1"/>
          </p:cNvSpPr>
          <p:nvPr>
            <p:ph type="body" idx="1"/>
          </p:nvPr>
        </p:nvSpPr>
        <p:spPr/>
        <p:txBody>
          <a:bodyPr/>
          <a:lstStyle/>
          <a:p>
            <a:r>
              <a:rPr lang="en-US" altLang="zh-CN" dirty="0"/>
              <a:t>Hugging Face Transformers for accessing and running pretrained models</a:t>
            </a:r>
          </a:p>
          <a:p>
            <a:r>
              <a:rPr lang="en-US" altLang="zh-CN" dirty="0"/>
              <a:t>Whisper (by OpenAI) for speech-to-text transcription</a:t>
            </a:r>
          </a:p>
          <a:p>
            <a:r>
              <a:rPr lang="en-US" altLang="zh-CN" dirty="0"/>
              <a:t>FLAN-T5 (by Google) for text summarization</a:t>
            </a:r>
          </a:p>
          <a:p>
            <a:r>
              <a:rPr lang="en-US" altLang="zh-CN" dirty="0" err="1"/>
              <a:t>PyTorch</a:t>
            </a:r>
            <a:r>
              <a:rPr lang="en-US" altLang="zh-CN" dirty="0"/>
              <a:t> for model inference and tensor operations</a:t>
            </a:r>
          </a:p>
          <a:p>
            <a:r>
              <a:rPr lang="en-US" altLang="zh-CN" dirty="0"/>
              <a:t>Google </a:t>
            </a:r>
            <a:r>
              <a:rPr lang="en-US" altLang="zh-CN" dirty="0" err="1"/>
              <a:t>Colab</a:t>
            </a:r>
            <a:r>
              <a:rPr lang="en-US" altLang="zh-CN" dirty="0"/>
              <a:t> for implementation and execution environment</a:t>
            </a:r>
            <a:endParaRPr lang="zh-CN" altLang="en-US" dirty="0"/>
          </a:p>
        </p:txBody>
      </p:sp>
    </p:spTree>
    <p:extLst>
      <p:ext uri="{BB962C8B-B14F-4D97-AF65-F5344CB8AC3E}">
        <p14:creationId xmlns:p14="http://schemas.microsoft.com/office/powerpoint/2010/main" val="1901263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DAFC85-8E8A-BEFD-2FB6-1E5FD6ECF271}"/>
              </a:ext>
            </a:extLst>
          </p:cNvPr>
          <p:cNvSpPr>
            <a:spLocks noGrp="1"/>
          </p:cNvSpPr>
          <p:nvPr>
            <p:ph type="title"/>
          </p:nvPr>
        </p:nvSpPr>
        <p:spPr/>
        <p:txBody>
          <a:bodyPr>
            <a:normAutofit fontScale="90000"/>
          </a:bodyPr>
          <a:lstStyle/>
          <a:p>
            <a:r>
              <a:rPr lang="en-US" altLang="zh-CN" dirty="0"/>
              <a:t>Insight </a:t>
            </a:r>
            <a:endParaRPr lang="zh-CN" altLang="en-US" dirty="0"/>
          </a:p>
        </p:txBody>
      </p:sp>
      <p:sp>
        <p:nvSpPr>
          <p:cNvPr id="3" name="文本占位符 2">
            <a:extLst>
              <a:ext uri="{FF2B5EF4-FFF2-40B4-BE49-F238E27FC236}">
                <a16:creationId xmlns:a16="http://schemas.microsoft.com/office/drawing/2014/main" id="{3C017DFF-69A0-2C34-3CA5-77D19B3F7218}"/>
              </a:ext>
            </a:extLst>
          </p:cNvPr>
          <p:cNvSpPr>
            <a:spLocks noGrp="1"/>
          </p:cNvSpPr>
          <p:nvPr>
            <p:ph type="body" idx="1"/>
          </p:nvPr>
        </p:nvSpPr>
        <p:spPr/>
        <p:txBody>
          <a:bodyPr/>
          <a:lstStyle/>
          <a:p>
            <a:r>
              <a:rPr lang="en-US" altLang="zh-CN" dirty="0"/>
              <a:t>Over-compression leads to incomplete outputs</a:t>
            </a:r>
          </a:p>
          <a:p>
            <a:r>
              <a:rPr lang="en-US" altLang="zh-CN" dirty="0"/>
              <a:t>Balanced prompts produce the best results</a:t>
            </a:r>
          </a:p>
          <a:p>
            <a:r>
              <a:rPr lang="en-US" altLang="zh-CN" dirty="0"/>
              <a:t>Model behavior is sensitive to instruction wording</a:t>
            </a:r>
            <a:endParaRPr lang="zh-CN" altLang="en-US" dirty="0"/>
          </a:p>
        </p:txBody>
      </p:sp>
    </p:spTree>
    <p:extLst>
      <p:ext uri="{BB962C8B-B14F-4D97-AF65-F5344CB8AC3E}">
        <p14:creationId xmlns:p14="http://schemas.microsoft.com/office/powerpoint/2010/main" val="77017722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400</TotalTime>
  <Words>1368</Words>
  <Application>Microsoft Office PowerPoint</Application>
  <PresentationFormat>全屏显示(16:9)</PresentationFormat>
  <Paragraphs>95</Paragraphs>
  <Slides>12</Slides>
  <Notes>3</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12</vt:i4>
      </vt:variant>
    </vt:vector>
  </HeadingPairs>
  <TitlesOfParts>
    <vt:vector size="15" baseType="lpstr">
      <vt:lpstr>Arial</vt:lpstr>
      <vt:lpstr>Times New Roman</vt:lpstr>
      <vt:lpstr>Simple Light</vt:lpstr>
      <vt:lpstr>AI Speech Intelligence System: Speech-to-Text and Summarization using Foundation Models</vt:lpstr>
      <vt:lpstr>Demo &amp; Links</vt:lpstr>
      <vt:lpstr>Problem Description</vt:lpstr>
      <vt:lpstr>Business Value</vt:lpstr>
      <vt:lpstr>Datasets</vt:lpstr>
      <vt:lpstr>Models Used</vt:lpstr>
      <vt:lpstr>Pipeline Architecture</vt:lpstr>
      <vt:lpstr>Prompt / Input Engineering</vt:lpstr>
      <vt:lpstr>Results (librispeech_asr )</vt:lpstr>
      <vt:lpstr>Limitations (Dataset Comparison)</vt:lpstr>
      <vt:lpstr>Tools Used</vt:lpstr>
      <vt:lpstr>Insight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Hou, Ruixuan (UMKC-Student)</cp:lastModifiedBy>
  <cp:revision>13</cp:revision>
  <dcterms:modified xsi:type="dcterms:W3CDTF">2026-04-26T00:53:33Z</dcterms:modified>
</cp:coreProperties>
</file>